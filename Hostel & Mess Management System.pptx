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2" r:id="rId12"/>
  </p:sldIdLst>
  <p:sldSz cx="12192000" cy="6858000"/>
  <p:notesSz cx="6858000" cy="9144000"/>
  <p:embeddedFontLst>
    <p:embeddedFont>
      <p:font typeface="Plus Jakarta Sans"/>
      <p:bold r:id="rId13"/>
    </p:embeddedFont>
    <p:embeddedFont>
      <p:font typeface="Space Grotesk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138737"/>
            <a:ext cx="10972800" cy="11096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296525" y="638175"/>
            <a:ext cx="1285875" cy="323850"/>
          </a:xfrm>
          <a:prstGeom prst="roundRect">
            <a:avLst>
              <a:gd name="adj" fmla="val 50000"/>
            </a:avLst>
          </a:prstGeom>
          <a:solidFill>
            <a:srgbClr val="272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138737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704850"/>
            <a:ext cx="17145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48925" y="714375"/>
            <a:ext cx="10763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SEC 8 | TEAM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16013"/>
            <a:ext cx="10953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Space Grotesk"/>
              </a:rPr>
              <a:t>PROJECT ABSTRACT SUBMISSION • TRIMESTER 4 (2026-2027)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268438"/>
            <a:ext cx="9301162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>
                <a:solidFill>
                  <a:srgbClr val="FFFFFF"/>
                </a:solidFill>
                <a:latin typeface="Plus Jakarta Sans"/>
              </a:rPr>
              <a:t>Hostel &amp; Mess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641824"/>
            <a:ext cx="8858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 Relational Database-Driven Solution for Administrative Efficiency, Automated Allocation, &amp; Dining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690562"/>
            <a:ext cx="120693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8BDF8"/>
                </a:solidFill>
                <a:latin typeface="Space Grotesk"/>
              </a:rPr>
              <a:t>KLH </a:t>
            </a:r>
            <a:r>
              <a:rPr sz="1400" b="1" i="0" u="none" dirty="0">
                <a:solidFill>
                  <a:srgbClr val="38BDF8"/>
                </a:solidFill>
                <a:latin typeface="Space Grotesk"/>
              </a:rPr>
              <a:t>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819775"/>
            <a:ext cx="7381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COURSE CODE &amp;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029325"/>
            <a:ext cx="7381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25CS1302E • Database Systems Engineering &amp; Distributed Backend 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6900" y="5376862"/>
            <a:ext cx="2095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1" i="0" u="none">
                <a:solidFill>
                  <a:srgbClr val="0D9488"/>
                </a:solidFill>
                <a:latin typeface="Plus Jakarta Sans"/>
              </a:rPr>
              <a:t>PROJECT TEAM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0" y="5605462"/>
            <a:ext cx="2095500" cy="637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87"/>
              </a:lnSpc>
            </a:pPr>
            <a:r>
              <a:rPr lang="en-IN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125" b="1" i="0" u="none" dirty="0">
                <a:solidFill>
                  <a:srgbClr val="F8FAFC"/>
                </a:solidFill>
                <a:latin typeface="Plus Jakarta Sans"/>
              </a:rPr>
              <a:t>Dhanush - 2520030014</a:t>
            </a:r>
            <a:r>
              <a:rPr dirty="0"/>
              <a:t>
</a:t>
            </a:r>
            <a:r>
              <a:rPr sz="1125" b="1" i="0" u="none" dirty="0">
                <a:solidFill>
                  <a:srgbClr val="F8FAFC"/>
                </a:solidFill>
                <a:latin typeface="Plus Jakarta Sans"/>
              </a:rPr>
              <a:t> Varshith</a:t>
            </a:r>
            <a:r>
              <a:rPr lang="en-IN" sz="1125" b="1" i="0" u="none" dirty="0">
                <a:solidFill>
                  <a:srgbClr val="F8FAFC"/>
                </a:solidFill>
                <a:latin typeface="Plus Jakarta Sans"/>
              </a:rPr>
              <a:t> Reddy</a:t>
            </a:r>
            <a:r>
              <a:rPr sz="1125" b="1" i="0" u="none" dirty="0">
                <a:solidFill>
                  <a:srgbClr val="F8FAFC"/>
                </a:solidFill>
                <a:latin typeface="Plus Jakarta Sans"/>
              </a:rPr>
              <a:t> -</a:t>
            </a:r>
            <a:r>
              <a:rPr lang="en-IN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125" b="1" i="0" u="none" dirty="0">
                <a:solidFill>
                  <a:srgbClr val="F8FAFC"/>
                </a:solidFill>
                <a:latin typeface="Plus Jakarta Sans"/>
              </a:rPr>
              <a:t>2520030250</a:t>
            </a:r>
            <a:r>
              <a:rPr dirty="0"/>
              <a:t>
</a:t>
            </a:r>
            <a:r>
              <a:rPr sz="1125" b="1" i="0" u="none" dirty="0">
                <a:solidFill>
                  <a:srgbClr val="F8FAFC"/>
                </a:solidFill>
                <a:latin typeface="Plus Jakarta Sans"/>
              </a:rPr>
              <a:t> Pranav</a:t>
            </a:r>
            <a:r>
              <a:rPr lang="en-IN" sz="1125" b="1" i="0" u="none" dirty="0">
                <a:solidFill>
                  <a:srgbClr val="F8FAFC"/>
                </a:solidFill>
                <a:latin typeface="Plus Jakarta Sans"/>
              </a:rPr>
              <a:t> Chowdary</a:t>
            </a:r>
            <a:r>
              <a:rPr sz="1125" b="1" i="0" u="none" dirty="0">
                <a:solidFill>
                  <a:srgbClr val="F8FAFC"/>
                </a:solidFill>
                <a:latin typeface="Plus Jakarta Sans"/>
              </a:rPr>
              <a:t> - 2520030555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772150"/>
            <a:ext cx="10972800" cy="552450"/>
          </a:xfrm>
          <a:prstGeom prst="roundRect">
            <a:avLst>
              <a:gd name="adj" fmla="val 2068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810875" y="685800"/>
            <a:ext cx="771525" cy="285750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390650"/>
            <a:ext cx="5334000" cy="41148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57925" y="1371600"/>
            <a:ext cx="5334000" cy="41148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0" y="5953125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17049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170497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1828800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550" y="1828800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44225" y="742950"/>
            <a:ext cx="600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Slide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943600"/>
            <a:ext cx="1025128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Strategic Goal: Bridge operational gaps through transparent, automated, and secure digital management.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"/>
            <a:ext cx="9596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42950"/>
            <a:ext cx="10076259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Modernizing Campus Operations &amp; Data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2314575"/>
            <a:ext cx="61757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Legacy Paper-Based Challenges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2314575"/>
            <a:ext cx="56292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Database-Driven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2714625"/>
            <a:ext cx="4800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Manual Paperwork:</a:t>
            </a:r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 Slow physical registers lead to registration bottlenecks.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209925"/>
            <a:ext cx="4800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lang="en-IN" sz="1600" b="1" i="0" u="none" dirty="0">
              <a:solidFill>
                <a:srgbClr val="0F172A"/>
              </a:solidFill>
              <a:latin typeface="Plus Jakarta Sans"/>
            </a:endParaRPr>
          </a:p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Data Duplication:</a:t>
            </a:r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 Disconnected files cause conflicting student records.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3961257"/>
            <a:ext cx="4800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High Inefficiency:</a:t>
            </a:r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 Hours spent verifying room status and fee receipts.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4200525"/>
            <a:ext cx="480060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lang="en-IN" sz="1600" b="1" i="0" u="none" dirty="0">
              <a:solidFill>
                <a:srgbClr val="0F172A"/>
              </a:solidFill>
              <a:latin typeface="Plus Jakarta Sans"/>
            </a:endParaRPr>
          </a:p>
          <a:p>
            <a:pPr algn="l"/>
            <a:endParaRPr lang="en-IN" sz="1600" b="1" dirty="0">
              <a:solidFill>
                <a:srgbClr val="0F172A"/>
              </a:solidFill>
              <a:latin typeface="Plus Jakarta Sans"/>
            </a:endParaRPr>
          </a:p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Audit Vulnerability:</a:t>
            </a:r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 Lack of centralized query tracking and data history.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2714625"/>
            <a:ext cx="4800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Centralized Database:</a:t>
            </a:r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 Unified relational schema in MySQL engine.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3209925"/>
            <a:ext cx="4800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Automated Operations:</a:t>
            </a:r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 Real-time room allocation &amp; mess attendance.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3705225"/>
            <a:ext cx="4800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High Data Integrity:</a:t>
            </a:r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 Foreign keys enforce zero duplicate records.</a:t>
            </a:r>
            <a:endParaRPr lang="en-IN" sz="1600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62725" y="4000500"/>
            <a:ext cx="4800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lang="en-IN" sz="1600" b="1" i="0" u="none" dirty="0">
              <a:solidFill>
                <a:srgbClr val="0F172A"/>
              </a:solidFill>
              <a:latin typeface="Plus Jakarta Sans"/>
            </a:endParaRPr>
          </a:p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Instant Retrieval:</a:t>
            </a:r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 Sub-second query lookups for wardens &amp; students.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00725"/>
            <a:ext cx="10972800" cy="523875"/>
          </a:xfrm>
          <a:prstGeom prst="roundRect">
            <a:avLst>
              <a:gd name="adj" fmla="val 2181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800725"/>
            <a:ext cx="38100" cy="5238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801350" y="685800"/>
            <a:ext cx="781050" cy="285750"/>
          </a:xfrm>
          <a:prstGeom prst="roundRect">
            <a:avLst>
              <a:gd name="adj" fmla="val 4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495550"/>
            <a:ext cx="2600325" cy="1933575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0425" y="2495550"/>
            <a:ext cx="2600325" cy="1933575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2495550"/>
            <a:ext cx="2600325" cy="1933575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82075" y="2495550"/>
            <a:ext cx="2600325" cy="1933575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733675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2733675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733675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100" y="2733675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2847975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0937" y="2847975"/>
            <a:ext cx="23812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1287" y="2847975"/>
            <a:ext cx="2190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0212" y="2847975"/>
            <a:ext cx="142875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8200" y="5972175"/>
            <a:ext cx="106108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Plus Jakarta Sans"/>
              </a:rPr>
              <a:t>Warden Dashboard Capability:</a:t>
            </a:r>
            <a:r>
              <a:rPr sz="1400" b="0" i="0" u="none" dirty="0">
                <a:solidFill>
                  <a:srgbClr val="334155"/>
                </a:solidFill>
                <a:latin typeface="Plus Jakarta Sans"/>
              </a:rPr>
              <a:t> Instant filtering for vacant beds, maintenance tickets, and overdue residential payments.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34700" y="742950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Slide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33400"/>
            <a:ext cx="8346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SYSTEM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42950"/>
            <a:ext cx="876359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Hostel Accommodation &amp; Residence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286125"/>
            <a:ext cx="152432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Student Profiles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3590925"/>
            <a:ext cx="229552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64748B"/>
                </a:solidFill>
                <a:latin typeface="Plus Jakarta Sans"/>
              </a:rPr>
              <a:t>Centralized student registry with contact, guardian data, and academic credentials.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450" y="3286125"/>
            <a:ext cx="157786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Room Allocation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450" y="3590925"/>
            <a:ext cx="229552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64748B"/>
                </a:solidFill>
                <a:latin typeface="Plus Jakarta Sans"/>
              </a:rPr>
              <a:t>Real-time tracking of room occupancy, block capacity, and automated assignments.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275" y="3286125"/>
            <a:ext cx="166552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Fee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275" y="3590925"/>
            <a:ext cx="229552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64748B"/>
                </a:solidFill>
                <a:latin typeface="Plus Jakarta Sans"/>
              </a:rPr>
              <a:t>Automated payment tracking, due notices, and digital receipt generation.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2100" y="3286125"/>
            <a:ext cx="176439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Logs &amp; Complaints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2100" y="3590925"/>
            <a:ext cx="229552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64748B"/>
                </a:solidFill>
                <a:latin typeface="Plus Jakarta Sans"/>
              </a:rPr>
              <a:t>Digital gate passes, nightly attendance logs, and warden ticketing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800725"/>
            <a:ext cx="10972800" cy="5238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801350" y="685800"/>
            <a:ext cx="781050" cy="285750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557462"/>
            <a:ext cx="2600325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00425" y="2557462"/>
            <a:ext cx="2600325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2557462"/>
            <a:ext cx="2600325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82075" y="2557462"/>
            <a:ext cx="2600325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5800725"/>
            <a:ext cx="38100" cy="523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843212"/>
            <a:ext cx="21907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2843212"/>
            <a:ext cx="21907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843212"/>
            <a:ext cx="27622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100" y="2843212"/>
            <a:ext cx="19050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34700" y="742950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Slide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5972175"/>
            <a:ext cx="967649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369A1"/>
                </a:solidFill>
                <a:latin typeface="Plus Jakarta Sans"/>
              </a:rPr>
              <a:t>Operational Benefit:</a:t>
            </a:r>
            <a:r>
              <a:rPr sz="1400" b="0" i="0" u="none" dirty="0">
                <a:solidFill>
                  <a:srgbClr val="0369A1"/>
                </a:solidFill>
                <a:latin typeface="Plus Jakarta Sans"/>
              </a:rPr>
              <a:t> Minimizes food waste by forecasting meal demand and ensures exact billing based on actual dining attendance.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33400"/>
            <a:ext cx="740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SYSTEM MODULE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42950"/>
            <a:ext cx="777597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Mess Operations &amp; Food Administration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224212"/>
            <a:ext cx="168764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Meal Registration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529012"/>
            <a:ext cx="229552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64748B"/>
                </a:solidFill>
                <a:latin typeface="Plus Jakarta Sans"/>
              </a:rPr>
              <a:t>Dynamic student opt-in/opt-out selections for daily meal planning.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450" y="3224212"/>
            <a:ext cx="176509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Dining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450" y="3529012"/>
            <a:ext cx="2295525" cy="61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Automated dining hall check-in logging to prevent unrecorded entries.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3224212"/>
            <a:ext cx="189654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Menu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275" y="3529012"/>
            <a:ext cx="229552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64748B"/>
                </a:solidFill>
                <a:latin typeface="Plus Jakarta Sans"/>
              </a:rPr>
              <a:t>Weekly meal schedule updates, nutrition info, and special diet tags.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3224212"/>
            <a:ext cx="119334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Mess Ledger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2100" y="3529012"/>
            <a:ext cx="229552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64748B"/>
                </a:solidFill>
                <a:latin typeface="Plus Jakarta Sans"/>
              </a:rPr>
              <a:t>Itemized monthly rebate calculations and automated bill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753100"/>
            <a:ext cx="10972800" cy="571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801350" y="685800"/>
            <a:ext cx="781050" cy="285750"/>
          </a:xfrm>
          <a:prstGeom prst="roundRect">
            <a:avLst>
              <a:gd name="adj" fmla="val 4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390650"/>
            <a:ext cx="3505200" cy="40957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3400" y="1390650"/>
            <a:ext cx="3505200" cy="40957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1390650"/>
            <a:ext cx="3505200" cy="40957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07978" y="5924550"/>
            <a:ext cx="9525" cy="2286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59675" y="5924550"/>
            <a:ext cx="9525" cy="2286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34700" y="742950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Slide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611" y="5938837"/>
            <a:ext cx="3262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Development IDE: </a:t>
            </a:r>
            <a:r>
              <a:rPr sz="1125" b="1" i="0" u="none">
                <a:solidFill>
                  <a:srgbClr val="0F172A"/>
                </a:solidFill>
                <a:latin typeface="Plus Jakarta Sans"/>
              </a:rPr>
              <a:t>IntelliJ IDEA / Eclipse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8839" y="5938837"/>
            <a:ext cx="3619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Deployment OS: </a:t>
            </a:r>
            <a:r>
              <a:rPr sz="1125" b="1" i="0" u="none">
                <a:solidFill>
                  <a:srgbClr val="0F172A"/>
                </a:solidFill>
                <a:latin typeface="Plus Jakarta Sans"/>
              </a:rPr>
              <a:t>Windows OS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6977" y="5938837"/>
            <a:ext cx="2655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Course Code: </a:t>
            </a:r>
            <a:r>
              <a:rPr sz="1125" b="1" i="0" u="none">
                <a:solidFill>
                  <a:srgbClr val="0F172A"/>
                </a:solidFill>
                <a:latin typeface="Plus Jakarta Sans"/>
              </a:rPr>
              <a:t>25CS1302E DBSE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"/>
            <a:ext cx="5798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TECHNICAL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42950"/>
            <a:ext cx="608826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Frameworks &amp; Multi-Tier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1647825"/>
            <a:ext cx="113531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Plus Jakarta Sans"/>
              </a:rPr>
              <a:t>FRONTEND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1857375"/>
            <a:ext cx="134427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User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2209800"/>
            <a:ext cx="231037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334155"/>
                </a:solidFill>
                <a:latin typeface="Plus Jakarta Sans"/>
              </a:rPr>
              <a:t>HTML5, CSS3, 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2466975"/>
            <a:ext cx="3086100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endParaRPr lang="en-IN" b="0" i="0" u="none" dirty="0">
              <a:solidFill>
                <a:srgbClr val="64748B"/>
              </a:solidFill>
              <a:latin typeface="Plus Jakarta Sans"/>
            </a:endParaRPr>
          </a:p>
          <a:p>
            <a:pPr algn="l">
              <a:lnSpc>
                <a:spcPts val="1470"/>
              </a:lnSpc>
            </a:pPr>
            <a:r>
              <a:rPr b="0" i="0" u="none" dirty="0">
                <a:solidFill>
                  <a:srgbClr val="64748B"/>
                </a:solidFill>
                <a:latin typeface="Plus Jakarta Sans"/>
              </a:rPr>
              <a:t>Interactive user dashboards for students and administrative wardens with real-time form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0575" y="1647825"/>
            <a:ext cx="104054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16A34A"/>
                </a:solidFill>
                <a:latin typeface="Plus Jakarta Sans"/>
              </a:rPr>
              <a:t>BACKEND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575" y="1857375"/>
            <a:ext cx="175336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Application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0575" y="2209800"/>
            <a:ext cx="286097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334155"/>
                </a:solidFill>
                <a:latin typeface="Plus Jakarta Sans"/>
              </a:rPr>
              <a:t>Java / Spring Boot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0575" y="2466975"/>
            <a:ext cx="3086100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endParaRPr lang="en-IN" b="0" i="0" u="none" dirty="0">
              <a:solidFill>
                <a:srgbClr val="64748B"/>
              </a:solidFill>
              <a:latin typeface="Plus Jakarta Sans"/>
            </a:endParaRPr>
          </a:p>
          <a:p>
            <a:pPr algn="l">
              <a:lnSpc>
                <a:spcPts val="1470"/>
              </a:lnSpc>
            </a:pPr>
            <a:r>
              <a:rPr b="0" i="0" u="none" dirty="0">
                <a:solidFill>
                  <a:srgbClr val="64748B"/>
                </a:solidFill>
                <a:latin typeface="Plus Jakarta Sans"/>
              </a:rPr>
              <a:t>Distributed business logic, REST controllers, session management, and secure query processing.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4375" y="1647825"/>
            <a:ext cx="108189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D9488"/>
                </a:solidFill>
                <a:latin typeface="Plus Jakarta Sans"/>
              </a:rPr>
              <a:t>DATABASE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4375" y="1857375"/>
            <a:ext cx="165519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Relational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4375" y="2209800"/>
            <a:ext cx="27721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334155"/>
                </a:solidFill>
                <a:latin typeface="Plus Jakarta Sans"/>
              </a:rPr>
              <a:t>MySQL &amp; MySQL Workbench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4375" y="2466975"/>
            <a:ext cx="3086100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endParaRPr lang="en-IN" b="0" i="0" u="none" dirty="0">
              <a:solidFill>
                <a:srgbClr val="64748B"/>
              </a:solidFill>
              <a:latin typeface="Plus Jakarta Sans"/>
            </a:endParaRPr>
          </a:p>
          <a:p>
            <a:pPr algn="l">
              <a:lnSpc>
                <a:spcPts val="1470"/>
              </a:lnSpc>
            </a:pPr>
            <a:r>
              <a:rPr b="0" i="0" u="none" dirty="0">
                <a:solidFill>
                  <a:srgbClr val="64748B"/>
                </a:solidFill>
                <a:latin typeface="Plus Jakarta Sans"/>
              </a:rPr>
              <a:t>Normalized tables, primary/foreign key constraints, transactional stability, and indexed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38825"/>
            <a:ext cx="10972800" cy="485775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810875" y="685800"/>
            <a:ext cx="771525" cy="285750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985962"/>
            <a:ext cx="109728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033712"/>
            <a:ext cx="109728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081462"/>
            <a:ext cx="109728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2050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325278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300537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2328862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937" y="3376612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50" y="4424362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-266700" y="5991225"/>
            <a:ext cx="12725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Plus Jakarta Sans"/>
              </a:rPr>
              <a:t>Delivering structured, scalable, and transparent administration across educational campus environments.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44225" y="742950"/>
            <a:ext cx="600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Slide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33400"/>
            <a:ext cx="8596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VALUE PROPOSITION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42950"/>
            <a:ext cx="902612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Key System Advantages &amp; Institutional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3525" y="2209800"/>
            <a:ext cx="856357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0F172A"/>
                </a:solidFill>
                <a:latin typeface="Plus Jakarta Sans"/>
              </a:rPr>
              <a:t>Reduced Overhead &amp; High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3525" y="2476500"/>
            <a:ext cx="8155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Automates daily registration entries to eliminate human error and physical register maintenance.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3525" y="3257550"/>
            <a:ext cx="97012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Fast Query Execution &amp;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3525" y="3524250"/>
            <a:ext cx="9239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Indexed MySQL database tables enable instant lookup of student records, bed counts, and payment status.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3525" y="4305300"/>
            <a:ext cx="882610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Data Integrity &amp; Zero Redundancy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3525" y="4572000"/>
            <a:ext cx="8405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Relational keys prevent duplicate student accounts, double-booking rooms, or billing mismatches.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496473-5CC9-9187-7340-719D88D33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0377" y="36449"/>
            <a:ext cx="7772400" cy="1470025"/>
          </a:xfrm>
        </p:spPr>
        <p:txBody>
          <a:bodyPr/>
          <a:lstStyle/>
          <a:p>
            <a:r>
              <a:rPr lang="en-IN" dirty="0" err="1"/>
              <a:t>FrontEnd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DCCDD6-3806-C499-082E-5A031E8FCE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F506A9-0078-A31B-0C0F-A1395C939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77" y="1327087"/>
            <a:ext cx="10067646" cy="553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21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B95914-24FC-42BF-F278-3E9FA9F97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36" y="685800"/>
            <a:ext cx="5875663" cy="5120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ECAB68-181D-BBA7-042D-EE25586BB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848" y="685800"/>
            <a:ext cx="5875663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83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51FF-B2A3-00A5-53FB-14B21B47C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IN" dirty="0"/>
              <a:t>Back-End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1AD0E5-3AB0-0964-6664-D8C2AA135C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47471" y="804672"/>
            <a:ext cx="5748529" cy="5708289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023B8D8-023B-61F2-B58F-BFA6072276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804672"/>
            <a:ext cx="5748529" cy="570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710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8FFA07-1C22-0C81-0EB0-B122513EB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1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72050" y="4224337"/>
            <a:ext cx="2247900" cy="447675"/>
          </a:xfrm>
          <a:prstGeom prst="roundRect">
            <a:avLst>
              <a:gd name="adj" fmla="val 50000"/>
            </a:avLst>
          </a:prstGeom>
          <a:solidFill>
            <a:srgbClr val="1B2335"/>
          </a:solidFill>
          <a:ln w="9525">
            <a:solidFill>
              <a:srgbClr val="33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185987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837" y="2328862"/>
            <a:ext cx="314325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89549" y="2947987"/>
            <a:ext cx="3212901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74156" y="3681412"/>
            <a:ext cx="66436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Hostel &amp; Mess Management System • Abstract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7762" y="4338637"/>
            <a:ext cx="22764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Plus Jakarta San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549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Arial</vt:lpstr>
      <vt:lpstr>Space Grotesk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FrontEnd</vt:lpstr>
      <vt:lpstr>PowerPoint Presentation</vt:lpstr>
      <vt:lpstr>Back-End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Chowdary</cp:lastModifiedBy>
  <cp:revision>3</cp:revision>
  <dcterms:created xsi:type="dcterms:W3CDTF">2013-01-27T09:14:16Z</dcterms:created>
  <dcterms:modified xsi:type="dcterms:W3CDTF">2026-10-02T13:12:41Z</dcterms:modified>
  <cp:category/>
</cp:coreProperties>
</file>